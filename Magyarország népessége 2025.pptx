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5.xml"/><Relationship Id="rId7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slide" Target="slide7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245173"/>
            <a:ext cx="10668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245173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412652"/>
            <a:ext cx="6842129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 err="1">
                <a:solidFill>
                  <a:srgbClr val="FFFFFF"/>
                </a:solidFill>
                <a:latin typeface="+mj-lt"/>
              </a:rPr>
              <a:t>Magyarország</a:t>
            </a:r>
            <a:r>
              <a:rPr sz="42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sz="4200" b="1" i="0" u="none" dirty="0" err="1">
                <a:solidFill>
                  <a:srgbClr val="FFFFFF"/>
                </a:solidFill>
                <a:latin typeface="+mj-lt"/>
              </a:rPr>
              <a:t>Népessége</a:t>
            </a:r>
            <a:r>
              <a:rPr sz="4200" b="1" i="0" u="none" dirty="0">
                <a:solidFill>
                  <a:srgbClr val="FFFFFF"/>
                </a:solidFill>
                <a:latin typeface="+mj-lt"/>
              </a:rPr>
              <a:t>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483298"/>
            <a:ext cx="48571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+mj-lt"/>
              </a:rPr>
              <a:t>KÉSZÍTŐK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673798"/>
            <a:ext cx="199952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E2E8F0"/>
                </a:solidFill>
              </a:rPr>
              <a:t>Porkoláb Ferenc </a:t>
            </a:r>
            <a:r>
              <a:rPr sz="1200" b="1" i="0" u="none" dirty="0" err="1">
                <a:solidFill>
                  <a:srgbClr val="E2E8F0"/>
                </a:solidFill>
              </a:rPr>
              <a:t>és</a:t>
            </a:r>
            <a:r>
              <a:rPr sz="1200" b="1" i="0" u="none" dirty="0">
                <a:solidFill>
                  <a:srgbClr val="E2E8F0"/>
                </a:solidFill>
              </a:rPr>
              <a:t> Guba Donát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hlinkClick r:id="rId2" action="ppaction://hlinksldjump"/>
          </p:cNvPr>
          <p:cNvSpPr/>
          <p:nvPr/>
        </p:nvSpPr>
        <p:spPr>
          <a:xfrm>
            <a:off x="762000" y="2638425"/>
            <a:ext cx="3352800" cy="271462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hlinkClick r:id="rId3" action="ppaction://hlinksldjump"/>
          </p:cNvPr>
          <p:cNvSpPr/>
          <p:nvPr/>
        </p:nvSpPr>
        <p:spPr>
          <a:xfrm>
            <a:off x="4419600" y="2638425"/>
            <a:ext cx="3352800" cy="271462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hlinkClick r:id="rId4" action="ppaction://hlinksldjump"/>
          </p:cNvPr>
          <p:cNvSpPr/>
          <p:nvPr/>
        </p:nvSpPr>
        <p:spPr>
          <a:xfrm>
            <a:off x="8077200" y="2767012"/>
            <a:ext cx="3352800" cy="2457450"/>
          </a:xfrm>
          <a:prstGeom prst="roundRect">
            <a:avLst>
              <a:gd name="adj" fmla="val 77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3028950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125" y="3028950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3157537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637" y="3181350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3950" y="3181350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0125" y="3309937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857250"/>
            <a:ext cx="284148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Főmenü</a:t>
            </a:r>
            <a:r>
              <a:rPr sz="27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&amp; </a:t>
            </a:r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Funkciók</a:t>
            </a:r>
            <a:endParaRPr sz="270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2525" y="3790950"/>
            <a:ext cx="164416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[1] </a:t>
            </a:r>
            <a:r>
              <a:rPr sz="18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Megye</a:t>
            </a:r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Adatai</a:t>
            </a:r>
            <a:endParaRPr sz="180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52525" y="4191000"/>
            <a:ext cx="266700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Vármegyei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szűrés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,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lakosságszám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és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városi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arányok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összesítése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0125" y="3790950"/>
            <a:ext cx="200625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[2] </a:t>
            </a:r>
            <a:r>
              <a:rPr sz="18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Település</a:t>
            </a:r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Típusok</a:t>
            </a:r>
            <a:endParaRPr sz="180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10125" y="4191000"/>
            <a:ext cx="266700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Kategóriák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szerinti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csoportosítás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és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lapozható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nézet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725" y="3919537"/>
            <a:ext cx="101470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[X] </a:t>
            </a:r>
            <a:r>
              <a:rPr sz="18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Kilépés</a:t>
            </a:r>
            <a:endParaRPr sz="180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67725" y="4319587"/>
            <a:ext cx="2667000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Biztonságos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kilépés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programból</a:t>
            </a:r>
            <a:r>
              <a:rPr sz="135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72200" y="1047750"/>
            <a:ext cx="5257800" cy="476250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600325" y="2965995"/>
            <a:ext cx="1895475" cy="257175"/>
          </a:xfrm>
          <a:prstGeom prst="roundRect">
            <a:avLst>
              <a:gd name="adj" fmla="val 1481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017466"/>
            <a:ext cx="4800600" cy="733425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106959"/>
            <a:ext cx="99706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Calibri" panose="020F0502020204030204" pitchFamily="34" charset="0"/>
              </a:rPr>
              <a:t>BACKEND LOGIKA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54609"/>
            <a:ext cx="3425874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CSV </a:t>
            </a:r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Adatfájl</a:t>
            </a:r>
            <a:r>
              <a:rPr sz="27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Beolvasása</a:t>
            </a:r>
            <a:endParaRPr sz="270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2956470"/>
            <a:ext cx="489585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A program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megnyitja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fájlt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átugorja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fejlécet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majd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pontosvessző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mentén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feldolgozza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sorokat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strukturált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szótárakba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77032"/>
            <a:ext cx="4895850" cy="1071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 err="1">
                <a:solidFill>
                  <a:srgbClr val="F43F5E"/>
                </a:solidFill>
                <a:latin typeface="Calibri" panose="020F0502020204030204" pitchFamily="34" charset="0"/>
              </a:rPr>
              <a:t>adat_gyujto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[] </a:t>
            </a:r>
            <a:r>
              <a:rPr sz="1050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with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1050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open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"lakossag_2025.csv"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, 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"r"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, encoding=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"UTF-8"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 </a:t>
            </a:r>
            <a:r>
              <a:rPr sz="1050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as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fajl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fajl.readline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() </a:t>
            </a:r>
            <a:r>
              <a:rPr sz="1050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for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sor </a:t>
            </a:r>
            <a:r>
              <a:rPr sz="1050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in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fajl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adatok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sor.strip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().split(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";"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 </a:t>
            </a:r>
            <a:r>
              <a:rPr sz="1050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if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1050" b="0" i="0" u="none" dirty="0" err="1">
                <a:solidFill>
                  <a:srgbClr val="38BDF8"/>
                </a:solidFill>
                <a:latin typeface="Calibri" panose="020F0502020204030204" pitchFamily="34" charset="0"/>
              </a:rPr>
              <a:t>len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adatok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 &lt; </a:t>
            </a:r>
            <a:r>
              <a:rPr sz="1050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5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1050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continue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{ 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1050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megyekod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adatok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1050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0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], 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1050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telepules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adatok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1050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1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], 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1050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tipus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adatok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1050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2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], 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1050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ferfi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1050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int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adatok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1050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3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].replace(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 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, 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)), 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"no"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1050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int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adatok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1050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4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].replace(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 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, </a:t>
            </a:r>
            <a:r>
              <a:rPr sz="1050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""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)) } 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adat_gyujto.append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1050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1050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0" y="1681757"/>
            <a:ext cx="120385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lakossag.py – </a:t>
            </a:r>
            <a:r>
              <a:rPr sz="90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Adatgyűjtés</a:t>
            </a:r>
            <a:endParaRPr sz="900" b="0" i="0" u="none" dirty="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0125" y="4179391"/>
            <a:ext cx="73577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FELDOLGOZÁS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369891"/>
            <a:ext cx="156094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Dinamikus</a:t>
            </a:r>
            <a:r>
              <a:rPr sz="135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szótár</a:t>
            </a:r>
            <a:r>
              <a:rPr sz="135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lista</a:t>
            </a:r>
            <a:endParaRPr sz="135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047750"/>
            <a:ext cx="5257800" cy="476250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29400" y="4012703"/>
            <a:ext cx="480060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0600" y="2369343"/>
            <a:ext cx="4895850" cy="754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if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choice == 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"1"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megye_bekero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</a:t>
            </a:r>
            <a:r>
              <a:rPr sz="975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input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Írd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 be a 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megyéd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: 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telepulesek_szama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</a:t>
            </a:r>
            <a:r>
              <a:rPr sz="975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0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osszes_lakos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</a:t>
            </a:r>
            <a:r>
              <a:rPr sz="975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0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varoslakok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</a:t>
            </a:r>
            <a:r>
              <a:rPr sz="975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0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for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in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adat_gyujto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if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megye_bekero.upper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() ==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megyekod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]: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telepulesek_szama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+= </a:t>
            </a:r>
            <a:r>
              <a:rPr sz="975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1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osszes_lakos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+= (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ferfi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 +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"no"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])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if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város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in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tipus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or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\ 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kerület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in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tipus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]: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varoslakok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+= (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ferfi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 +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leiras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"no"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111722"/>
            <a:ext cx="81272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Calibri" panose="020F0502020204030204" pitchFamily="34" charset="0"/>
              </a:rPr>
              <a:t>1. MENÜPONT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359372"/>
            <a:ext cx="3513719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Vármegyei</a:t>
            </a:r>
            <a:r>
              <a:rPr sz="27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Lekérdezések</a:t>
            </a:r>
            <a:endParaRPr sz="270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29400" y="2961233"/>
            <a:ext cx="4895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A felhasználó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által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megadott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megyekód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alapján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iterálunk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az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adathalmazon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összesítve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települések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számát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,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teljes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lakosságot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valamint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városi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lakosok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arányát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8300" y="2074068"/>
            <a:ext cx="103233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lakossag.py – 1. </a:t>
            </a:r>
            <a:r>
              <a:rPr sz="90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Opció</a:t>
            </a:r>
            <a:endParaRPr sz="900" b="0" i="0" u="none" dirty="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67525" y="4174628"/>
            <a:ext cx="57547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EREDMÉNY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525" y="4365128"/>
            <a:ext cx="123764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Pontos </a:t>
            </a:r>
            <a:r>
              <a:rPr sz="135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összesítés</a:t>
            </a:r>
            <a:endParaRPr sz="135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72200" y="1047750"/>
            <a:ext cx="5257800" cy="476250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017466"/>
            <a:ext cx="4800600" cy="733425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106959"/>
            <a:ext cx="81272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Calibri" panose="020F0502020204030204" pitchFamily="34" charset="0"/>
              </a:rPr>
              <a:t>2. MENÜPONT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54609"/>
            <a:ext cx="349685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Lapozható</a:t>
            </a:r>
            <a:r>
              <a:rPr sz="27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Településlista</a:t>
            </a:r>
            <a:endParaRPr sz="270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2854535"/>
            <a:ext cx="489585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típusok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lekérdezése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után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találatokat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10-es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egységekre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(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oldalakra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)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bontjuk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így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konzolon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interaktívan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(</a:t>
            </a:r>
            <a:r>
              <a:rPr lang="hu-HU"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&gt;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és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lang="hu-HU"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&lt;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)</a:t>
            </a:r>
            <a:r>
              <a:rPr lang="hu-HU"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jelekkel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lapozható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lista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90923"/>
            <a:ext cx="4895850" cy="88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if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choice == 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"2"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tipusok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</a:t>
            </a:r>
            <a:r>
              <a:rPr sz="975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sorted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975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set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(l[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tipus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for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l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in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adat_gyujto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))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t_bekero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</a:t>
            </a:r>
            <a:r>
              <a:rPr sz="975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input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Írd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 be a 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típust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: 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).strip().lower()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if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t_bekero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not in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tipusok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975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print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Nincs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ilyen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típus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!"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else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kiv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[l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for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l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in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adat_gyujto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if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l[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tipus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 ==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t_bekero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oldalmeret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</a:t>
            </a:r>
            <a:r>
              <a:rPr sz="975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10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oldalak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[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kiv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i:i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+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oldalmeret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for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i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in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range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975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0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, </a:t>
            </a:r>
            <a:r>
              <a:rPr sz="975" b="0" i="0" u="none" dirty="0" err="1">
                <a:solidFill>
                  <a:srgbClr val="38BDF8"/>
                </a:solidFill>
                <a:latin typeface="Calibri" panose="020F0502020204030204" pitchFamily="34" charset="0"/>
              </a:rPr>
              <a:t>len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kiv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),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oldalmeret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)]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aktualis_oldal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= </a:t>
            </a:r>
            <a:r>
              <a:rPr sz="975" b="0" i="0" u="none" dirty="0">
                <a:solidFill>
                  <a:srgbClr val="FCA5A5"/>
                </a:solidFill>
                <a:latin typeface="Calibri" panose="020F0502020204030204" pitchFamily="34" charset="0"/>
              </a:rPr>
              <a:t>0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while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latin typeface="Calibri" panose="020F0502020204030204" pitchFamily="34" charset="0"/>
              </a:rPr>
              <a:t>True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: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for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telepules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>
                <a:solidFill>
                  <a:srgbClr val="C084FC"/>
                </a:solidFill>
                <a:latin typeface="Calibri" panose="020F0502020204030204" pitchFamily="34" charset="0"/>
              </a:rPr>
              <a:t>in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 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oldalak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[</a:t>
            </a:r>
            <a:r>
              <a:rPr sz="975" b="0" i="0" u="none" dirty="0" err="1">
                <a:solidFill>
                  <a:srgbClr val="E2E8F0"/>
                </a:solidFill>
                <a:latin typeface="Calibri" panose="020F0502020204030204" pitchFamily="34" charset="0"/>
              </a:rPr>
              <a:t>aktualis_oldal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]: </a:t>
            </a:r>
            <a:r>
              <a:rPr sz="975" b="0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print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(f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"{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telepules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['</a:t>
            </a:r>
            <a:r>
              <a:rPr sz="975" b="0" i="0" u="none" dirty="0" err="1">
                <a:solidFill>
                  <a:srgbClr val="A5F3FC"/>
                </a:solidFill>
                <a:latin typeface="Calibri" panose="020F0502020204030204" pitchFamily="34" charset="0"/>
              </a:rPr>
              <a:t>telepules</a:t>
            </a:r>
            <a:r>
              <a:rPr sz="975" b="0" i="0" u="none" dirty="0">
                <a:solidFill>
                  <a:srgbClr val="A5F3FC"/>
                </a:solidFill>
                <a:latin typeface="Calibri" panose="020F0502020204030204" pitchFamily="34" charset="0"/>
              </a:rPr>
              <a:t>']}: ..."</a:t>
            </a:r>
            <a:r>
              <a:rPr sz="975" b="0" i="0" u="none" dirty="0">
                <a:solidFill>
                  <a:srgbClr val="E2E8F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0" y="2133748"/>
            <a:ext cx="97622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lakossag.py – </a:t>
            </a:r>
            <a:r>
              <a:rPr sz="90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Lapozó</a:t>
            </a:r>
            <a:endParaRPr sz="900" b="0" i="0" u="none" dirty="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2982" y="4260353"/>
            <a:ext cx="131811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Oldalakra</a:t>
            </a:r>
            <a:r>
              <a:rPr sz="135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tördelés</a:t>
            </a:r>
            <a:endParaRPr sz="135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0" y="4218384"/>
            <a:ext cx="502920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0" y="1906041"/>
            <a:ext cx="105637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Calibri" panose="020F0502020204030204" pitchFamily="34" charset="0"/>
              </a:rPr>
              <a:t>TARTALMI HÁTTÉR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53691"/>
            <a:ext cx="5380672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Magyarország</a:t>
            </a:r>
            <a:r>
              <a:rPr sz="27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Lakossága</a:t>
            </a:r>
            <a:r>
              <a:rPr sz="27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166913"/>
            <a:ext cx="5124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Az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adatok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alapján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Magyarország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lakossága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megközelítőleg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9,54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millió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fő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. A program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segítségével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pontosan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elemezhetők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vármegyei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koncentrációk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és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az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urbanizációs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Calibri" panose="020F0502020204030204" pitchFamily="34" charset="0"/>
              </a:rPr>
              <a:t>arányok</a:t>
            </a:r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4380309"/>
            <a:ext cx="63478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FŐ MUTATÓ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4570809"/>
            <a:ext cx="116211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9,54 </a:t>
            </a:r>
            <a:r>
              <a:rPr sz="135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millió</a:t>
            </a:r>
            <a:r>
              <a:rPr sz="135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Calibri" panose="020F0502020204030204" pitchFamily="34" charset="0"/>
              </a:rPr>
              <a:t>lakos</a:t>
            </a:r>
            <a:endParaRPr sz="1350" b="1" i="0" u="none" dirty="0">
              <a:solidFill>
                <a:srgbClr val="0F172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00591" y="3109912"/>
            <a:ext cx="439081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 err="1">
                <a:solidFill>
                  <a:srgbClr val="FFFFFF"/>
                </a:solidFill>
                <a:latin typeface="Calibri" panose="020F0502020204030204" pitchFamily="34" charset="0"/>
              </a:rPr>
              <a:t>Köszönjük</a:t>
            </a:r>
            <a:r>
              <a:rPr sz="3600" b="1" i="0" u="none" dirty="0">
                <a:solidFill>
                  <a:srgbClr val="FFFFFF"/>
                </a:solidFill>
                <a:latin typeface="Calibri" panose="020F0502020204030204" pitchFamily="34" charset="0"/>
              </a:rPr>
              <a:t> a </a:t>
            </a:r>
            <a:r>
              <a:rPr sz="3600" b="1" i="0" u="none" dirty="0" err="1">
                <a:solidFill>
                  <a:srgbClr val="FFFFFF"/>
                </a:solidFill>
                <a:latin typeface="Calibri" panose="020F0502020204030204" pitchFamily="34" charset="0"/>
              </a:rPr>
              <a:t>Figyelmet</a:t>
            </a:r>
            <a:r>
              <a:rPr sz="3600" b="1" i="0" u="none" dirty="0">
                <a:solidFill>
                  <a:srgbClr val="FFFFFF"/>
                </a:solidFill>
                <a:latin typeface="Calibri" panose="020F0502020204030204" pitchFamily="34" charset="0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2912" y="4386262"/>
            <a:ext cx="264617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Készítette</a:t>
            </a:r>
            <a:r>
              <a:rPr sz="12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: Porkoláb Ferenc </a:t>
            </a:r>
            <a:r>
              <a:rPr sz="120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és</a:t>
            </a:r>
            <a:r>
              <a:rPr sz="12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Guba Donát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540</Words>
  <Application>Microsoft Office PowerPoint</Application>
  <PresentationFormat>Szélesvásznú</PresentationFormat>
  <Paragraphs>37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Dodi</dc:creator>
  <cp:keywords/>
  <dc:description>generated using python-pptx</dc:description>
  <cp:lastModifiedBy>O365 felhasználó</cp:lastModifiedBy>
  <cp:revision>4</cp:revision>
  <dcterms:created xsi:type="dcterms:W3CDTF">2013-01-27T09:14:16Z</dcterms:created>
  <dcterms:modified xsi:type="dcterms:W3CDTF">2026-09-21T16:21:29Z</dcterms:modified>
  <cp:category/>
</cp:coreProperties>
</file>